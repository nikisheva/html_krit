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065008" y="0"/>
            <a:ext cx="4126687" cy="6858000"/>
          </a:xfrm>
          <a:custGeom>
            <a:avLst/>
            <a:gdLst/>
            <a:ahLst/>
            <a:cxnLst/>
            <a:rect l="l" t="t" r="r" b="b"/>
            <a:pathLst>
              <a:path w="4126687" h="6858000">
                <a:moveTo>
                  <a:pt x="1581912" y="0"/>
                </a:moveTo>
                <a:lnTo>
                  <a:pt x="4126687" y="0"/>
                </a:lnTo>
                <a:lnTo>
                  <a:pt x="412668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92608"/>
            <a:ext cx="612250" cy="38404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1051560"/>
            <a:ext cx="329184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060704"/>
            <a:ext cx="315468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для ОЦО и бэкофиса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69494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Посмотрите на привычный процесс по-новому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6766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Выберите знакомый рабочий процесс и предложите, как сделать его быстрее, удобнее или экономичнее. Создайте работающий прототип и покажите, что изменилось.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67665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Можно переосмыслить весь процесс или улучшить отдельный этап — например, подключить AI-агента.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19 октября — 20 ноября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1078992"/>
            <a:ext cx="31750" cy="507492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Маршрут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Как проходит AI Challenge</a:t>
            </a:r>
          </a:p>
        </p:txBody>
      </p:sp>
      <p:pic>
        <p:nvPicPr>
          <p:cNvPr id="6" name="Picture 5" descr="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662395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548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К финалу — работающий прототип: покажите, какую задачу он решает, как работает и что улучшает.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78308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783080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929384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2002536"/>
            <a:ext cx="2651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20 октября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2350008"/>
            <a:ext cx="32278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Обучение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880360"/>
            <a:ext cx="322783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Знакомимся с подходом и инструментами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78308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783080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1929384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2002536"/>
            <a:ext cx="2651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до 21 октября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2350008"/>
            <a:ext cx="32278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Заявки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880360"/>
            <a:ext cx="322783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Подаёте заявку на участие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78308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783080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38744" y="1929384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0808" y="2002536"/>
            <a:ext cx="2651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22–30 октября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2350008"/>
            <a:ext cx="32278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Тестовый тур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8744" y="2880360"/>
            <a:ext cx="322783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Задания выдаём 22 октября. Собираем минипроцесс в Битриксе на тестовом стенде, без агентов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950208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950208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096512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" y="4169664"/>
            <a:ext cx="2651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6 ноября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4517136"/>
            <a:ext cx="32278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Просмотр идей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" y="5047488"/>
            <a:ext cx="322783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Показываем замысел, жюри выбирает проекты в MVP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950208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3950208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4" y="4096512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56048" y="4169664"/>
            <a:ext cx="2651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7–19 ноября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4517136"/>
            <a:ext cx="32278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Создание MVP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43984" y="5047488"/>
            <a:ext cx="322783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Воплощаем идею в работающем прототипе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40" y="3950208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92440" y="3950208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38744" y="4096512"/>
            <a:ext cx="502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0808" y="4169664"/>
            <a:ext cx="265176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20 ноября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8744" y="4517136"/>
            <a:ext cx="32278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Показ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8744" y="5047488"/>
            <a:ext cx="3227832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Показываем решения и выбираем победителей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1078992"/>
            <a:ext cx="31750" cy="507492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Этапы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От знакомства с инструментами до работающего решения</a:t>
            </a:r>
          </a:p>
        </p:txBody>
      </p:sp>
      <p:pic>
        <p:nvPicPr>
          <p:cNvPr id="6" name="Picture 5" descr="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662395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548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35204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271016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50876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Обучение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563624"/>
            <a:ext cx="1234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20 октября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1965960"/>
            <a:ext cx="3227832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Разбираем, как находить возможности для улучшения процессов и какие инструменты помогут реализовать идею.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143000"/>
            <a:ext cx="35204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143000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1271016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150876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Заявки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563624"/>
            <a:ext cx="1234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до 21 октября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1965960"/>
            <a:ext cx="3227832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Подаёте заявку на участие. Без заявки в тестовый тур не выходим.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143000"/>
            <a:ext cx="35204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143000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38744" y="1271016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1508760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Тестовый тур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563624"/>
            <a:ext cx="1234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22–30 октября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1965960"/>
            <a:ext cx="3227832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22 октября выдаём задания. Каждый собирает свой минипроцесс в Битриксе на тестовом стенде, без агентов.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547872"/>
            <a:ext cx="35204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547872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3675888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3913632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Просмотр идей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968496"/>
            <a:ext cx="1234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6 ноября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4370832"/>
            <a:ext cx="3227832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Коротко показываем заявку. Жюри — топ-менеджмент. Дальше идут те, кто набрал наибольшее количество баллов.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547872"/>
            <a:ext cx="35204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3547872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43984" y="3675888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4" y="3913632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MVP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968496"/>
            <a:ext cx="1234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7–19 ноября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3984" y="4370832"/>
            <a:ext cx="3227832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Реализуем основной сценарий: прототип выполняет ключевую задачу, и его работу можно показать. Полная готовность к внедрению не требуется.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3547872"/>
            <a:ext cx="35204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92440" y="3547872"/>
            <a:ext cx="35204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38744" y="3675888"/>
            <a:ext cx="914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8744" y="3913632"/>
            <a:ext cx="2103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Показ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3968496"/>
            <a:ext cx="1234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20 ноября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38744" y="4370832"/>
            <a:ext cx="3227832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Показываем прототип, сравниваем «до» и «после», рассказываем о результате. Выбираем победителей.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1078992"/>
            <a:ext cx="31750" cy="507492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Просмотр идей · 6 ноября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Что писать в заявке и как оцениваем идеи</a:t>
            </a:r>
          </a:p>
        </p:txBody>
      </p:sp>
      <p:pic>
        <p:nvPicPr>
          <p:cNvPr id="6" name="Picture 5" descr="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662395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548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5156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Выбираете процесс и предлагаете, как выстроить его иначе. Можно свой, кросс-функциональный или процесс другой функции — если понимаете, как он устроен. Можно отказаться от процесса или его части, если ясно, как тогда решается задача.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65379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737360"/>
            <a:ext cx="653796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2743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В заявке коротко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21408"/>
            <a:ext cx="30632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1. Какой процесс меняем и для кого он существует.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32304"/>
            <a:ext cx="30632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2. Как он работает сейчас.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43200"/>
            <a:ext cx="30632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3. Что в нём хотим изменить.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54096"/>
            <a:ext cx="306324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4. Как предлагается выстроить новый процесс.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12140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5. За счёт чего это можно сделать: Bitrix, агенты, автоматизация. Детальной архитектуры не нужно.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57860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6. Какой эффект ожидаем: время, деньги, качество, ошибки, удобство, масштаб.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3580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7. Как будем измерять результат: было X, должно стать 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493008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8. Кто автор.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737360"/>
            <a:ext cx="4434840" cy="685800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810512"/>
            <a:ext cx="41605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До заявки можно прийти к Никишевой Елене: помочь подумать и направить, не придумать решение за вас.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514600"/>
            <a:ext cx="4434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2514600"/>
            <a:ext cx="44348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2578608"/>
            <a:ext cx="1828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Отбор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816352"/>
            <a:ext cx="41605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Пять критериев от 0 до 5. Дальше идут те, кто набрал наибольшее количество баллов.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474720"/>
            <a:ext cx="44348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23760" y="3474720"/>
            <a:ext cx="443484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3547872"/>
            <a:ext cx="18288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Жюри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3785615"/>
            <a:ext cx="4160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Топ-менеджмент компании. На демодне веса другие.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526280"/>
            <a:ext cx="215798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526280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4617720"/>
            <a:ext cx="1975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0–5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4864608"/>
            <a:ext cx="19751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Бизнес-эффект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5532120"/>
            <a:ext cx="197510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Время, деньги, результат для компании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52344" y="4526280"/>
            <a:ext cx="215798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52344" y="4526280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62072" y="4617720"/>
            <a:ext cx="1975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0–5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62072" y="4864608"/>
            <a:ext cx="19751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Ценность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62072" y="5532120"/>
            <a:ext cx="197510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Удобство для пользователей процесса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01768" y="4526280"/>
            <a:ext cx="215798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01768" y="4526280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1496" y="4617720"/>
            <a:ext cx="1975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0–5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4864608"/>
            <a:ext cx="19751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Качество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1496" y="5532120"/>
            <a:ext cx="197510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Меньше ошибок и рисков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251192" y="4526280"/>
            <a:ext cx="215798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251192" y="4526280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60920" y="4617720"/>
            <a:ext cx="1975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0–5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4864608"/>
            <a:ext cx="19751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Масштаб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5532120"/>
            <a:ext cx="197510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Можно применять шире, чем в одном участке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0616" y="4526280"/>
            <a:ext cx="2157984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00616" y="4526280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10344" y="4617720"/>
            <a:ext cx="1975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0–5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10344" y="4864608"/>
            <a:ext cx="197510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Глубина и реализм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10344" y="5532120"/>
            <a:ext cx="1975104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Насколько сильно меняется процесс и насколько идея реалистична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Кросс-функциональное решение получает ещё +2 балла сверх этих пяти оценок.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1078992"/>
            <a:ext cx="31750" cy="507492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Показ · 20 ноября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Как показываем решение и как выбираем победителей</a:t>
            </a:r>
          </a:p>
        </p:txBody>
      </p:sp>
      <p:pic>
        <p:nvPicPr>
          <p:cNvPr id="6" name="Picture 5" descr="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662395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548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5156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Формат максимально простой. Не презентация о будущем — показ того, что уже работает.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Как показываем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91640"/>
            <a:ext cx="215798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691640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78308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057400"/>
            <a:ext cx="19385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Было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743200"/>
            <a:ext cx="1938528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Как процесс работал раньше.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52344" y="1691640"/>
            <a:ext cx="215798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52344" y="1691640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62072" y="178308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2057400"/>
            <a:ext cx="19385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Стало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2" y="2743200"/>
            <a:ext cx="1938528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Что изменили в логике.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1768" y="1691640"/>
            <a:ext cx="215798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01768" y="1691640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1496" y="178308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2057400"/>
            <a:ext cx="19385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Как работает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496" y="2743200"/>
            <a:ext cx="1938528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Живой сценарий, который можно пройти.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51192" y="1691640"/>
            <a:ext cx="215798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51192" y="1691640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178308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057400"/>
            <a:ext cx="19385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Эффект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743200"/>
            <a:ext cx="1938528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Что стало лучше и как это видно.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0616" y="1691640"/>
            <a:ext cx="215798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0616" y="1691640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0344" y="1783080"/>
            <a:ext cx="457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10344" y="2057400"/>
            <a:ext cx="1938528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Путь в PROD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0344" y="2743200"/>
            <a:ext cx="1938528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Что нужно, чтобы вывести в работу.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70332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Как оцениваем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977639"/>
            <a:ext cx="2157984" cy="2240280"/>
          </a:xfrm>
          <a:prstGeom prst="rect">
            <a:avLst/>
          </a:prstGeom>
          <a:solidFill>
            <a:srgbClr val="F4F8FC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977639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" y="4096512"/>
            <a:ext cx="193852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30%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4663440"/>
            <a:ext cx="193852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Эффект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" y="5212080"/>
            <a:ext cx="193852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Реальный или честно оценённый результат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52344" y="3977639"/>
            <a:ext cx="2157984" cy="2240280"/>
          </a:xfrm>
          <a:prstGeom prst="rect">
            <a:avLst/>
          </a:prstGeom>
          <a:solidFill>
            <a:srgbClr val="F4F8FC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52344" y="3977639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62072" y="4096512"/>
            <a:ext cx="193852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25%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62072" y="4663440"/>
            <a:ext cx="193852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MVP работает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62072" y="5212080"/>
            <a:ext cx="193852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Насколько реально работает прототип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01768" y="3977639"/>
            <a:ext cx="2157984" cy="2240280"/>
          </a:xfrm>
          <a:prstGeom prst="rect">
            <a:avLst/>
          </a:prstGeom>
          <a:solidFill>
            <a:srgbClr val="F4F8FC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01768" y="3977639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11496" y="4096512"/>
            <a:ext cx="193852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20%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11496" y="4663440"/>
            <a:ext cx="193852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Новая логика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11496" y="5212080"/>
            <a:ext cx="193852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Насколько хорошо перепридуман процесс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51192" y="3977639"/>
            <a:ext cx="2157984" cy="2240280"/>
          </a:xfrm>
          <a:prstGeom prst="rect">
            <a:avLst/>
          </a:prstGeom>
          <a:solidFill>
            <a:srgbClr val="F4F8FC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51192" y="3977639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60920" y="4096512"/>
            <a:ext cx="193852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15%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0920" y="4663440"/>
            <a:ext cx="193852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Путь в PROD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60920" y="5212080"/>
            <a:ext cx="193852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Можно ли довести до рабочей среды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00616" y="3977639"/>
            <a:ext cx="2157984" cy="2240280"/>
          </a:xfrm>
          <a:prstGeom prst="rect">
            <a:avLst/>
          </a:prstGeom>
          <a:solidFill>
            <a:srgbClr val="F4F8FC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500616" y="3977639"/>
            <a:ext cx="2157984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10344" y="4096512"/>
            <a:ext cx="193852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389BFF"/>
                </a:solidFill>
                <a:latin typeface="Uncage"/>
                <a:ea typeface="Uncage"/>
                <a:cs typeface="Uncage"/>
              </a:rPr>
              <a:t>10%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10344" y="4663440"/>
            <a:ext cx="1938528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10344" y="5212080"/>
            <a:ext cx="1938528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Насколько ясно показали решение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1078992"/>
            <a:ext cx="31750" cy="507492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Показ · 20 ноября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Призы</a:t>
            </a:r>
          </a:p>
        </p:txBody>
      </p:sp>
      <p:pic>
        <p:nvPicPr>
          <p:cNvPr id="6" name="Picture 5" descr="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662395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548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Три места за результат на демодне. Приз не означает внедрение: решение по каждому MVP спонсоры принимают отдельно.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5661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356616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1 место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100 000 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233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Победитель Demo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965960"/>
            <a:ext cx="35661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965960"/>
            <a:ext cx="356616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2402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2 место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889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50 000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0233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Второе место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965960"/>
            <a:ext cx="35661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965960"/>
            <a:ext cx="356616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24028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3 место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88920"/>
            <a:ext cx="301752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3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30 000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02336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Третье место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1078992"/>
            <a:ext cx="31750" cy="507492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Сроки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Календарь</a:t>
            </a:r>
          </a:p>
        </p:txBody>
      </p:sp>
      <p:pic>
        <p:nvPicPr>
          <p:cNvPr id="6" name="Picture 5" descr="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662395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548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Arial"/>
                <a:ea typeface="Arial"/>
                <a:cs typeface="Arial"/>
              </a:rPr>
              <a:t>Старт — 19 октября. Показ — 20 ноября.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08760"/>
          <a:ext cx="111556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  <a:gridCol w="5120640"/>
              </a:tblGrid>
              <a:tr h="528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Этап</a:t>
                      </a:r>
                    </a:p>
                  </a:txBody>
                  <a:tcPr anchor="ctr">
                    <a:solidFill>
                      <a:srgbClr val="389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Когда</a:t>
                      </a:r>
                    </a:p>
                  </a:txBody>
                  <a:tcPr anchor="ctr">
                    <a:solidFill>
                      <a:srgbClr val="389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anchor="ctr">
                    <a:solidFill>
                      <a:srgbClr val="389B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Начало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19 октября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Старт AI Challenge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Обучение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20 октября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Знакомство с подходом и инструментами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Сбор заявок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до 21 октября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Заявка на участие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Выдача заданий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22 октября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Задания тестового тура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Тестовый тур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до 30 октября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Минипроцесс в Битриксе на тестовом стенде, без агентов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Просмотр идей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6 ноября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Показ замысла и работа жюри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Создание MVP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7–19 ноября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Работающий прототип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Показ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20 ноября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1E1E"/>
                          </a:solidFill>
                          <a:latin typeface="Arial"/>
                          <a:ea typeface="Arial"/>
                          <a:cs typeface="Arial"/>
                        </a:rPr>
                        <a:t>Показ решений, призы и выбор победителей</a:t>
                      </a:r>
                    </a:p>
                  </a:txBody>
                  <a:tcPr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1078992"/>
            <a:ext cx="31750" cy="507492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509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95097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Вопросы и правила</a:t>
            </a:r>
          </a:p>
        </p:txBody>
      </p:sp>
      <p:pic>
        <p:nvPicPr>
          <p:cNvPr id="6" name="Picture 5" descr="logo-gr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56032"/>
            <a:ext cx="662395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389BFF"/>
                </a:solidFill>
                <a:latin typeface="Arial"/>
                <a:ea typeface="Arial"/>
                <a:cs typeface="Arial"/>
              </a:rPr>
              <a:t>AI Challenge · ОЦО и бэкофис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548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736092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97280"/>
            <a:ext cx="736092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207007"/>
            <a:ext cx="706831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Какие инструменты можно использовать?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1645919"/>
            <a:ext cx="7068312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Cursor, AI-агентов, Битрикс24, интеграции и другие инструменты автоматизации — в рамках корпоративных правил доступа и работы с данными. AI может помогать создавать решение или быть частью процесса. Отдельный AI-агент в прототипе не обязателен.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097280"/>
            <a:ext cx="36118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097280"/>
            <a:ext cx="36118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7304" y="1207007"/>
            <a:ext cx="331927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Можно участвовать командой?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1645919"/>
            <a:ext cx="3319272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Нет. Участие только одиночное: один человек — один проект.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2608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926080"/>
            <a:ext cx="36118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035808"/>
            <a:ext cx="331927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Нужно уметь программировать?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474720"/>
            <a:ext cx="33192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Нет. Важны знание процесса и готовность разбираться в инструментах.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92608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2926080"/>
            <a:ext cx="36118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98264" y="3035808"/>
            <a:ext cx="331927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Обязательно запускать решение в работу?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3474720"/>
            <a:ext cx="33192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Нет. Для финала нужен работающий прототип, который можно продемонстрировать.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2926080"/>
            <a:ext cx="3611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2926080"/>
            <a:ext cx="361188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47304" y="3035808"/>
            <a:ext cx="331927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Можно взять процесс другой команды?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7304" y="3474720"/>
            <a:ext cx="331927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Да, если хорошо понимаете, как он устроен, и можете предложить конкретное изменение.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17720"/>
            <a:ext cx="111099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0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617720"/>
            <a:ext cx="11109960" cy="38100"/>
          </a:xfrm>
          <a:prstGeom prst="rect">
            <a:avLst/>
          </a:prstGeom>
          <a:solidFill>
            <a:srgbClr val="389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727448"/>
            <a:ext cx="10817352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E1E1E"/>
                </a:solidFill>
                <a:latin typeface="Uncage"/>
                <a:ea typeface="Uncage"/>
                <a:cs typeface="Uncage"/>
              </a:rPr>
              <a:t>Что будет после демодня?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" y="5166359"/>
            <a:ext cx="1081735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777777"/>
                </a:solidFill>
                <a:latin typeface="Arial"/>
                <a:ea typeface="Arial"/>
                <a:cs typeface="Arial"/>
              </a:rPr>
              <a:t>По каждому MVP отдельно решим, что делать дальше: дорабатывать, внедрять или завершить эксперимент.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